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57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7053" y="204636"/>
            <a:ext cx="3636947" cy="4531956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29260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43584" y="29260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56032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Log Analysis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234440"/>
            <a:ext cx="47548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3716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6032" y="1874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6030-120: Natural Language Processing  ·  Western Michigan University  ·  Spring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217627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Poornarakesh Anagani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cs typeface="Calibri" pitchFamily="34" charset="-120"/>
              </a:rPr>
              <a:t>Charani Kavali   •   Pujitha Maddi Reddy</a:t>
            </a:r>
          </a:p>
        </p:txBody>
      </p:sp>
      <p:sp>
        <p:nvSpPr>
          <p:cNvPr id="12" name="Text 10"/>
          <p:cNvSpPr/>
          <p:nvPr/>
        </p:nvSpPr>
        <p:spPr>
          <a:xfrm>
            <a:off x="256032" y="2487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Prof. Alvis Fong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834640"/>
            <a:ext cx="512064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200400"/>
            <a:ext cx="137160" cy="137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6928" y="318211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of logs remain unexamined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383280"/>
            <a:ext cx="137160" cy="1371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6928" y="336499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70-80% SRE time in reactive firefighting</a:t>
            </a:r>
            <a:endParaRPr lang="en-US" sz="9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5661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6928" y="354787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 understanding of incidents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577840" y="2834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Tasks  ·  100 pts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577840" y="3154680"/>
            <a:ext cx="105156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577840" y="3172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577840" y="34198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6720840" y="3154680"/>
            <a:ext cx="105156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720840" y="3172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720840" y="34198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LM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7863840" y="3154680"/>
            <a:ext cx="10515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7863840" y="3172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7863840" y="34198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Ethics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6144768" y="3858768"/>
            <a:ext cx="1051560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144768" y="38770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6144768" y="41239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Pres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7287768" y="3858768"/>
            <a:ext cx="105156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7287768" y="387705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7287768" y="41239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Pres.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5577840" y="46268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 each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256032" y="3931920"/>
            <a:ext cx="1207008" cy="804672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256032" y="395935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1800" dirty="0"/>
          </a:p>
        </p:txBody>
      </p:sp>
      <p:sp>
        <p:nvSpPr>
          <p:cNvPr id="40" name="Text 35"/>
          <p:cNvSpPr/>
          <p:nvPr/>
        </p:nvSpPr>
        <p:spPr>
          <a:xfrm>
            <a:off x="256032" y="435254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Logs/min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1581912" y="3931920"/>
            <a:ext cx="1207008" cy="804672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1581912" y="395935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&lt;1s</a:t>
            </a:r>
            <a:endParaRPr lang="en-US" sz="1800" dirty="0"/>
          </a:p>
        </p:txBody>
      </p:sp>
      <p:sp>
        <p:nvSpPr>
          <p:cNvPr id="43" name="Text 38"/>
          <p:cNvSpPr/>
          <p:nvPr/>
        </p:nvSpPr>
        <p:spPr>
          <a:xfrm>
            <a:off x="1581912" y="435254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2907792" y="3931920"/>
            <a:ext cx="1207008" cy="804672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0"/>
          <p:cNvSpPr/>
          <p:nvPr/>
        </p:nvSpPr>
        <p:spPr>
          <a:xfrm>
            <a:off x="2907792" y="395935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94.3%</a:t>
            </a:r>
            <a:endParaRPr lang="en-US" sz="1800" dirty="0"/>
          </a:p>
        </p:txBody>
      </p:sp>
      <p:sp>
        <p:nvSpPr>
          <p:cNvPr id="46" name="Text 41"/>
          <p:cNvSpPr/>
          <p:nvPr/>
        </p:nvSpPr>
        <p:spPr>
          <a:xfrm>
            <a:off x="2907792" y="435254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Acc.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4233672" y="3931920"/>
            <a:ext cx="1207008" cy="804672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4233672" y="395935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800" dirty="0"/>
          </a:p>
        </p:txBody>
      </p:sp>
      <p:sp>
        <p:nvSpPr>
          <p:cNvPr id="49" name="Text 44"/>
          <p:cNvSpPr/>
          <p:nvPr/>
        </p:nvSpPr>
        <p:spPr>
          <a:xfrm>
            <a:off x="4233672" y="435254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NLP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01: POS Tagging  ·  Task 02: N-gram LM  ·  Full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914400"/>
            <a:ext cx="27889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914400"/>
            <a:ext cx="278892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932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8" y="969264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92608" y="11704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Understanding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536192"/>
            <a:ext cx="155448" cy="155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151790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&amp; Preprocessing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911096"/>
            <a:ext cx="155448" cy="1554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" y="189280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 — spaCy v3.7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286000"/>
            <a:ext cx="155448" cy="1554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2920" y="226771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— 8 Entity Types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660904"/>
            <a:ext cx="155448" cy="1554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2920" y="264261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Semantic Embeddings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035808"/>
            <a:ext cx="155448" cy="15544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2920" y="30175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Severity Classification</a:t>
            </a:r>
            <a:endParaRPr lang="en-US" sz="9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410712"/>
            <a:ext cx="155448" cy="15544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2920" y="339242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Baseline (Trigram)</a:t>
            </a:r>
            <a:endParaRPr lang="en-US" sz="950" dirty="0"/>
          </a:p>
        </p:txBody>
      </p:sp>
      <p:sp>
        <p:nvSpPr>
          <p:cNvPr id="23" name="Shape 14"/>
          <p:cNvSpPr/>
          <p:nvPr/>
        </p:nvSpPr>
        <p:spPr>
          <a:xfrm>
            <a:off x="292608" y="4663440"/>
            <a:ext cx="2606040" cy="2286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5"/>
          <p:cNvSpPr/>
          <p:nvPr/>
        </p:nvSpPr>
        <p:spPr>
          <a:xfrm>
            <a:off x="292608" y="46725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0.92  ·  50ms/log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3172968" y="914400"/>
            <a:ext cx="27889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7"/>
          <p:cNvSpPr/>
          <p:nvPr/>
        </p:nvSpPr>
        <p:spPr>
          <a:xfrm>
            <a:off x="3172968" y="914400"/>
            <a:ext cx="2788920" cy="5120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8"/>
          <p:cNvSpPr/>
          <p:nvPr/>
        </p:nvSpPr>
        <p:spPr>
          <a:xfrm>
            <a:off x="3264408" y="932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969264"/>
            <a:ext cx="320040" cy="3200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264408" y="11704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Intelligence</a:t>
            </a:r>
            <a:endParaRPr lang="en-US" sz="11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536192"/>
            <a:ext cx="155448" cy="15544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474720" y="151790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GPT (LoRA/LLaMA-2)</a:t>
            </a:r>
            <a:endParaRPr lang="en-US" sz="95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911096"/>
            <a:ext cx="155448" cy="15544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474720" y="189280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Prompting</a:t>
            </a:r>
            <a:endParaRPr lang="en-US" sz="95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2286000"/>
            <a:ext cx="155448" cy="15544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3474720" y="226771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NL Generation</a:t>
            </a:r>
            <a:endParaRPr lang="en-US" sz="95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2660904"/>
            <a:ext cx="155448" cy="15544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3474720" y="264261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Summarization</a:t>
            </a:r>
            <a:endParaRPr lang="en-US" sz="95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3035808"/>
            <a:ext cx="155448" cy="155448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3474720" y="30175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Anomaly Detection</a:t>
            </a:r>
            <a:endParaRPr lang="en-US" sz="950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3410712"/>
            <a:ext cx="155448" cy="155448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3474720" y="339242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(2.5σ)</a:t>
            </a:r>
            <a:endParaRPr lang="en-US" sz="950" dirty="0"/>
          </a:p>
        </p:txBody>
      </p:sp>
      <p:sp>
        <p:nvSpPr>
          <p:cNvPr id="42" name="Shape 26"/>
          <p:cNvSpPr/>
          <p:nvPr/>
        </p:nvSpPr>
        <p:spPr>
          <a:xfrm>
            <a:off x="3264408" y="4663440"/>
            <a:ext cx="2606040" cy="228600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7"/>
          <p:cNvSpPr/>
          <p:nvPr/>
        </p:nvSpPr>
        <p:spPr>
          <a:xfrm>
            <a:off x="3264408" y="46725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0.23  ·  Acc: 94.3%</a:t>
            </a:r>
            <a:endParaRPr lang="en-US" sz="900" dirty="0"/>
          </a:p>
        </p:txBody>
      </p:sp>
      <p:sp>
        <p:nvSpPr>
          <p:cNvPr id="44" name="Shape 28"/>
          <p:cNvSpPr/>
          <p:nvPr/>
        </p:nvSpPr>
        <p:spPr>
          <a:xfrm>
            <a:off x="6144768" y="914400"/>
            <a:ext cx="27889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29"/>
          <p:cNvSpPr/>
          <p:nvPr/>
        </p:nvSpPr>
        <p:spPr>
          <a:xfrm>
            <a:off x="6144768" y="914400"/>
            <a:ext cx="2788920" cy="5120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0"/>
          <p:cNvSpPr/>
          <p:nvPr/>
        </p:nvSpPr>
        <p:spPr>
          <a:xfrm>
            <a:off x="6236208" y="932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969264"/>
            <a:ext cx="320040" cy="320040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6236208" y="11704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</a:t>
            </a:r>
            <a:endParaRPr lang="en-US" sz="1150" dirty="0"/>
          </a:p>
        </p:txBody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536192"/>
            <a:ext cx="155448" cy="155448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6446520" y="151790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Qdrant Vector DB</a:t>
            </a:r>
            <a:endParaRPr lang="en-US" sz="950" dirty="0"/>
          </a:p>
        </p:txBody>
      </p:sp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911096"/>
            <a:ext cx="155448" cy="155448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6446520" y="189280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Orchestration</a:t>
            </a:r>
            <a:endParaRPr lang="en-US" sz="95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2286000"/>
            <a:ext cx="155448" cy="155448"/>
          </a:xfrm>
          <a:prstGeom prst="rect">
            <a:avLst/>
          </a:prstGeom>
        </p:spPr>
      </p:pic>
      <p:sp>
        <p:nvSpPr>
          <p:cNvPr id="54" name="Text 34"/>
          <p:cNvSpPr/>
          <p:nvPr/>
        </p:nvSpPr>
        <p:spPr>
          <a:xfrm>
            <a:off x="6446520" y="226771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Dialogue (LlamaIndex)</a:t>
            </a:r>
            <a:endParaRPr lang="en-US" sz="950" dirty="0"/>
          </a:p>
        </p:txBody>
      </p:sp>
      <p:pic>
        <p:nvPicPr>
          <p:cNvPr id="55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2660904"/>
            <a:ext cx="155448" cy="155448"/>
          </a:xfrm>
          <a:prstGeom prst="rect">
            <a:avLst/>
          </a:prstGeom>
        </p:spPr>
      </p:pic>
      <p:sp>
        <p:nvSpPr>
          <p:cNvPr id="56" name="Text 35"/>
          <p:cNvSpPr/>
          <p:nvPr/>
        </p:nvSpPr>
        <p:spPr>
          <a:xfrm>
            <a:off x="6446520" y="264261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Real-time (Socket.IO)</a:t>
            </a:r>
            <a:endParaRPr lang="en-US" sz="950" dirty="0"/>
          </a:p>
        </p:txBody>
      </p:sp>
      <p:pic>
        <p:nvPicPr>
          <p:cNvPr id="57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3035808"/>
            <a:ext cx="155448" cy="155448"/>
          </a:xfrm>
          <a:prstGeom prst="rect">
            <a:avLst/>
          </a:prstGeom>
        </p:spPr>
      </p:pic>
      <p:sp>
        <p:nvSpPr>
          <p:cNvPr id="58" name="Text 36"/>
          <p:cNvSpPr/>
          <p:nvPr/>
        </p:nvSpPr>
        <p:spPr>
          <a:xfrm>
            <a:off x="6446520" y="30175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&amp; Citation</a:t>
            </a:r>
            <a:endParaRPr lang="en-US" sz="950" dirty="0"/>
          </a:p>
        </p:txBody>
      </p:sp>
      <p:pic>
        <p:nvPicPr>
          <p:cNvPr id="59" name="Image 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3410712"/>
            <a:ext cx="155448" cy="155448"/>
          </a:xfrm>
          <a:prstGeom prst="rect">
            <a:avLst/>
          </a:prstGeom>
        </p:spPr>
      </p:pic>
      <p:sp>
        <p:nvSpPr>
          <p:cNvPr id="60" name="Text 37"/>
          <p:cNvSpPr/>
          <p:nvPr/>
        </p:nvSpPr>
        <p:spPr>
          <a:xfrm>
            <a:off x="6446520" y="339242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 (&lt;0.75)</a:t>
            </a:r>
            <a:endParaRPr lang="en-US" sz="950" dirty="0"/>
          </a:p>
        </p:txBody>
      </p:sp>
      <p:sp>
        <p:nvSpPr>
          <p:cNvPr id="61" name="Shape 38"/>
          <p:cNvSpPr/>
          <p:nvPr/>
        </p:nvSpPr>
        <p:spPr>
          <a:xfrm>
            <a:off x="6236208" y="4663440"/>
            <a:ext cx="2606040" cy="228600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39"/>
          <p:cNvSpPr/>
          <p:nvPr/>
        </p:nvSpPr>
        <p:spPr>
          <a:xfrm>
            <a:off x="6236208" y="46725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0.96  ·  &lt;200ms</a:t>
            </a:r>
            <a:endParaRPr lang="en-US" sz="900" dirty="0"/>
          </a:p>
        </p:txBody>
      </p:sp>
      <p:sp>
        <p:nvSpPr>
          <p:cNvPr id="63" name="Shape 40"/>
          <p:cNvSpPr/>
          <p:nvPr/>
        </p:nvSpPr>
        <p:spPr>
          <a:xfrm>
            <a:off x="201168" y="4069080"/>
            <a:ext cx="278892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41"/>
          <p:cNvSpPr/>
          <p:nvPr/>
        </p:nvSpPr>
        <p:spPr>
          <a:xfrm>
            <a:off x="292608" y="412394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Sample: "ERROR" → NOUN/SEVERITY  ·  "nginx-7f8" → NOUN/POD_NAME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03 — NLP Ethics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practices embedded throughout LogIQ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932688"/>
            <a:ext cx="64008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1498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PII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1353312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NER-based PII redaction in Loki before storage. AES-256 at rest, TLS 1.3 in transit. CloudTrail immutable audit logs.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932688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932688"/>
            <a:ext cx="64008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1498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Bias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46320" y="1353312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BERT/GPT trained on general text may misclassify domain-specific patterns. Mitigated via LoRA fine-tuning on 5K+ incident reports.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28600" y="2322576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28600" y="2322576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40487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65760" y="274320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&lt;0.75 triggers fallback. Every answer grounded with citations from the RAG vector store.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09160" y="2322576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09160" y="2322576"/>
            <a:ext cx="6400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40487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1208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Explainability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46320" y="274320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prompting makes reasoning visible. Every incident diagnosis cites source logs. Auditable via CloudTrail.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28600" y="3712464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228600" y="3712464"/>
            <a:ext cx="64008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79476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1520" y="3785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Fairness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65760" y="4133088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 removes CLI barrier — non-technical stakeholders can query logs in plain English.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709160" y="3712464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4709160" y="3712464"/>
            <a:ext cx="64008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79476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212080" y="3785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Risk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4846320" y="4133088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escalation enforced for P1 incidents via PagerDuty. AI suggestions never auto-remediate production.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NLP — AWS EKS Deployment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· Zero Trust security · GitOps CI/CD · Full observability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788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941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us-east-1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6276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Read-Write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7889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941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eu-west-1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371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6276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/ Standby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91440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914400"/>
            <a:ext cx="278892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941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ap-southeast-1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371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62763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63240" y="1207008"/>
            <a:ext cx="82296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0" y="1207008"/>
            <a:ext cx="82296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" y="2212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Architecture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2514600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28600" y="251460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" y="25511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25511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27523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WebSocket · Material-UI · CloudFront/S3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709160" y="2514600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251460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18888" y="25511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25511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12080" y="27523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 · Cognito · WAF · Rate Limiting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228600" y="3063240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28600" y="306324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8328" y="309981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3099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33009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· FastAPI Microservices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709160" y="3063240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306324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18888" y="309981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12080" y="3099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12080" y="33009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· BERT · GPT · RAG · Three-Layer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228600" y="3611880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28600" y="361188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8328" y="364845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36484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31520" y="38496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· ElastiCache · OpenSearch · Qdrant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709160" y="3611880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09160" y="361188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18888" y="364845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12080" y="36484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&amp; Streaming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12080" y="38496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MSK (Kafka) · Kinesis · Exactly-once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228600" y="4160520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28600" y="416052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38328" y="419709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31520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31520" y="439826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· X-Ray · Grafana · Prometheus · Jaeger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20040" y="47914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&lt; 15 min  ·  RPO &lt; 15 min  ·  Route 53 GeoDNS  ·  Promotion time ~60-90s  ·  WAL streaming replication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Research Contributions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· Innovations · Course task alignment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135331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135331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10058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" y="15087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91640" y="914400"/>
            <a:ext cx="135331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91640" y="914400"/>
            <a:ext cx="135331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91640" y="10058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15087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914400"/>
            <a:ext cx="135331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914400"/>
            <a:ext cx="1353312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54680" y="10058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154680" y="15087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Accuracy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914400"/>
            <a:ext cx="135331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914400"/>
            <a:ext cx="135331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17720" y="10058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17720" y="15087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F1 Score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914400"/>
            <a:ext cx="135331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80760" y="914400"/>
            <a:ext cx="13533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80760" y="10058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080760" y="15087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43800" y="914400"/>
            <a:ext cx="135331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543800" y="914400"/>
            <a:ext cx="135331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43800" y="100584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543800" y="15087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2103120"/>
            <a:ext cx="4251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28600" y="2103120"/>
            <a:ext cx="4251960" cy="34747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48840"/>
            <a:ext cx="237744" cy="23774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30936" y="21579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Log Clustering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338328" y="2523744"/>
            <a:ext cx="4005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 vs regex on 10M+ Kubernetes events — 34% better cluster purity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709160" y="2103120"/>
            <a:ext cx="4251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709160" y="2103120"/>
            <a:ext cx="4251960" cy="347472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48840"/>
            <a:ext cx="237744" cy="237744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111496" y="21579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Root Cause Analysis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4818888" y="2523744"/>
            <a:ext cx="4005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citation accuracy. Hallucination guard: confidence threshold &lt;0.75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228600" y="3291840"/>
            <a:ext cx="4251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228600" y="3291840"/>
            <a:ext cx="4251960" cy="347472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37560"/>
            <a:ext cx="237744" cy="237744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30936" y="3346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Embeddings</a:t>
            </a:r>
            <a:endParaRPr lang="en-US" sz="1150" dirty="0"/>
          </a:p>
        </p:txBody>
      </p:sp>
      <p:sp>
        <p:nvSpPr>
          <p:cNvPr id="44" name="Text 39"/>
          <p:cNvSpPr/>
          <p:nvPr/>
        </p:nvSpPr>
        <p:spPr>
          <a:xfrm>
            <a:off x="338328" y="3712464"/>
            <a:ext cx="4005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on 384-dim embeddings · 2.5σ threshold · 7-day baseline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4709160" y="3291840"/>
            <a:ext cx="4251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4709160" y="3291840"/>
            <a:ext cx="4251960" cy="347472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337560"/>
            <a:ext cx="237744" cy="237744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5111496" y="3346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Domain Models</a:t>
            </a:r>
            <a:endParaRPr lang="en-US" sz="1150" dirty="0"/>
          </a:p>
        </p:txBody>
      </p:sp>
      <p:sp>
        <p:nvSpPr>
          <p:cNvPr id="49" name="Text 43"/>
          <p:cNvSpPr/>
          <p:nvPr/>
        </p:nvSpPr>
        <p:spPr>
          <a:xfrm>
            <a:off x="4818888" y="3712464"/>
            <a:ext cx="4005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 5K+ incident reports · GPT-3.5 vs LLaMA-2 · Parameter efficiency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228600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alignment: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2057400" y="4526280"/>
            <a:ext cx="129844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2057400" y="45445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3474720" y="4526280"/>
            <a:ext cx="1298448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/>
          <p:nvPr/>
        </p:nvSpPr>
        <p:spPr>
          <a:xfrm>
            <a:off x="3474720" y="45445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4892040" y="4526280"/>
            <a:ext cx="1298448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4892040" y="45445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Ethics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6309360" y="4526280"/>
            <a:ext cx="1298448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2"/>
          <p:cNvSpPr/>
          <p:nvPr/>
        </p:nvSpPr>
        <p:spPr>
          <a:xfrm>
            <a:off x="6309360" y="45445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7726680" y="4526280"/>
            <a:ext cx="1298448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4"/>
          <p:cNvSpPr/>
          <p:nvPr/>
        </p:nvSpPr>
        <p:spPr>
          <a:xfrm>
            <a:off x="7726680" y="45445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2743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56032" y="96012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256032" y="1847088"/>
            <a:ext cx="47548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96596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to Production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" y="2926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Poornarakesh Anagani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" y="314553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poornarakesh.anagani@wmich.edu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Charani Kavali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" y="36484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charani.kavali@wmich.edu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" y="39319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Pujitha Maddi Reddy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" y="415137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pujitha.maddireddy@wmich.edu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6032" y="4773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6030-120  ·  Western Michigan University  ·  Spring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822960"/>
            <a:ext cx="3474720" cy="3657600"/>
          </a:xfrm>
          <a:prstGeom prst="rect">
            <a:avLst/>
          </a:prstGeom>
          <a:solidFill>
            <a:srgbClr val="1B3A5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2356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Checklist</a:t>
            </a:r>
            <a:endParaRPr lang="en-US" sz="11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280160"/>
            <a:ext cx="164592" cy="16459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852160" y="12618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ingestion — Kafka stream live</a:t>
            </a:r>
            <a:endParaRPr lang="en-US" sz="9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609344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852160" y="159105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 on real Kubernetes log</a:t>
            </a:r>
            <a:endParaRPr lang="en-US" sz="95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938528"/>
            <a:ext cx="164592" cy="1645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852160" y="19202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entity extraction (8 types)</a:t>
            </a:r>
            <a:endParaRPr lang="en-US" sz="9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267712"/>
            <a:ext cx="164592" cy="1645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52160" y="22494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severity classification</a:t>
            </a:r>
            <a:endParaRPr lang="en-US" sz="9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596896"/>
            <a:ext cx="164592" cy="16459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852160" y="257860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anomaly score output</a:t>
            </a:r>
            <a:endParaRPr lang="en-US" sz="9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926080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852160" y="290779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chatbot: natural language query</a:t>
            </a:r>
            <a:endParaRPr lang="en-US" sz="95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255264"/>
            <a:ext cx="164592" cy="16459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852160" y="3236976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live metrics</a:t>
            </a:r>
            <a:endParaRPr lang="en-US" sz="95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584448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852160" y="35661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demo (Ethics task)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256032" y="283464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737</Words>
  <Application>Microsoft Macintosh PowerPoint</Application>
  <PresentationFormat>On-screen Show (16:9)</PresentationFormat>
  <Paragraphs>169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LogIQ — Final Presentation</dc:title>
  <dc:subject>PptxGenJS Presentation</dc:subject>
  <dc:creator>PptxGenJS</dc:creator>
  <cp:lastModifiedBy>chinna tech</cp:lastModifiedBy>
  <cp:revision>3</cp:revision>
  <dcterms:created xsi:type="dcterms:W3CDTF">2026-04-13T23:25:31Z</dcterms:created>
  <dcterms:modified xsi:type="dcterms:W3CDTF">2026-04-23T15:56:44Z</dcterms:modified>
</cp:coreProperties>
</file>